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(Rp)</c:v>
                </c:pt>
              </c:strCache>
            </c:strRef>
          </c:tx>
          <c:spPr>
            <a:solidFill>
              <a:srgbClr val="0D948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10 Users</c:v>
                </c:pt>
                <c:pt idx="1">
                  <c:v>100 Users</c:v>
                </c:pt>
                <c:pt idx="2">
                  <c:v>1.000 Users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470400</c:v>
                </c:pt>
                <c:pt idx="1">
                  <c:v>4704000</c:v>
                </c:pt>
                <c:pt idx="2">
                  <c:v>47040000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sz="1100" b="1">
                  <a:solidFill>
                    <a:srgbClr val="1E2333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9E4D8"/>
            </a:solidFill>
          </a:ln>
        </c:spPr>
        <c:txPr>
          <a:bodyPr/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1828800" y="-2286000"/>
            <a:ext cx="6400800" cy="6400800"/>
          </a:xfrm>
          <a:prstGeom prst="roundRect">
            <a:avLst>
              <a:gd name="adj" fmla="val 100000"/>
            </a:avLst>
          </a:prstGeom>
          <a:solidFill>
            <a:srgbClr val="0D94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3200400"/>
            <a:ext cx="6400800" cy="6400800"/>
          </a:xfrm>
          <a:prstGeom prst="roundRect">
            <a:avLst>
              <a:gd name="adj" fmla="val 100000"/>
            </a:avLst>
          </a:prstGeom>
          <a:solidFill>
            <a:srgbClr val="7C3AE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3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822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FITKU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1170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EEAD4"/>
                </a:solidFill>
                <a:latin typeface="Inter"/>
              </a:rPr>
              <a:t>AI Diet Coach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Poppins"/>
              </a:rPr>
              <a:t>FitKu Premium Pricing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A8B0C0"/>
                </a:solidFill>
                <a:latin typeface="Inter"/>
              </a:rPr>
              <a:t>Market Validation, Competitor Analysis &amp; Revenue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6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100" b="1">
                <a:solidFill>
                  <a:srgbClr val="5EEAD4"/>
                </a:solidFill>
                <a:latin typeface="Inter"/>
              </a:rPr>
              <a:t>AI DIET COACH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B0C0"/>
                </a:solidFill>
                <a:latin typeface="Inter"/>
              </a:rPr>
              <a:t>Internal — Founder / Developer / Investor Reference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Problem &amp;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Inter"/>
              </a:rPr>
              <a:t>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591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8600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E2333"/>
                </a:solidFill>
                <a:latin typeface="Inter"/>
              </a:rPr>
              <a:t>Jutaan orang Indonesia ingin turun berat badan &amp; hidup lebih sehat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10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3375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E2333"/>
                </a:solidFill>
                <a:latin typeface="Inter"/>
              </a:rPr>
              <a:t>Aplikasi fitness/diet global tersedia melimpah — App Store penuh pilihan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622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38912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E2333"/>
                </a:solidFill>
                <a:latin typeface="Inter"/>
              </a:rPr>
              <a:t>Tapi mayoritas dibuat untuk pasar Barat: database makanan, porsi, dan bahasa tidak nyambung ke kebiasaan lokal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00200"/>
            <a:ext cx="5468112" cy="429768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FF1EA"/>
                </a:solidFill>
                <a:latin typeface="Inter"/>
              </a:rPr>
              <a:t>THE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3172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oppins"/>
              </a:rPr>
              <a:t>"AI Diet Coach yang memahami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oppins"/>
              </a:rPr>
              <a:t>makanan Indonesia dan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Poppins"/>
              </a:rPr>
              <a:t>kebiasaan lokal"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0F3EE"/>
                </a:solidFill>
                <a:latin typeface="Inter"/>
              </a:rPr>
              <a:t>Bukan sekadar kalkulator kalori — coach personal yang bicara bahasa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0F3EE"/>
                </a:solidFill>
                <a:latin typeface="Inter"/>
              </a:rPr>
              <a:t>kuliner Indonesia: centong, potong, piring, bukan gram asing.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6235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6B7280"/>
                </a:solidFill>
                <a:latin typeface="Inter"/>
              </a:rPr>
              <a:t>MyFitnessPal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56235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6B7280"/>
                </a:solidFill>
                <a:latin typeface="Inter"/>
              </a:rPr>
              <a:t>Lifesum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5" y="56235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6B7280"/>
                </a:solidFill>
                <a:latin typeface="Inter"/>
              </a:rPr>
              <a:t>Yazio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87582" y="56235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C9971F"/>
                </a:solidFill>
                <a:latin typeface="Inter"/>
              </a:rPr>
              <a:t>→ FitKu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Competitor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2062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E2333"/>
                </a:solidFill>
                <a:latin typeface="Poppins"/>
              </a:rPr>
              <a:t>MyFitnessPal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Global calorie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B7280"/>
                </a:solidFill>
                <a:latin typeface="Poppins"/>
              </a:rPr>
              <a:t>±Rp320.000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Inter"/>
              </a:rPr>
              <a:t>per bulan  ·  $19.99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Tanpa lokalisasi harga atau konten Indonesia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645920"/>
            <a:ext cx="4206240" cy="283464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87451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Poppins"/>
              </a:rPr>
              <a:t>FitKu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2677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FF1EA"/>
                </a:solidFill>
                <a:latin typeface="Inter"/>
              </a:rPr>
              <a:t>AI Diet Coach Indonesia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889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Poppins"/>
              </a:rPr>
              <a:t>Rp49.000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3101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FF1EA"/>
                </a:solidFill>
                <a:latin typeface="Inter"/>
              </a:rPr>
              <a:t>per bulan  ·  harga peluncuran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7947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0F3EE"/>
                </a:solidFill>
                <a:latin typeface="Inter"/>
              </a:rPr>
              <a:t>AI Coaching + database makanan Indonesia lengkap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7772400" cy="868680"/>
          </a:xfrm>
          <a:prstGeom prst="roundRect">
            <a:avLst>
              <a:gd name="adj" fmla="val 15000"/>
            </a:avLst>
          </a:prstGeom>
          <a:solidFill>
            <a:srgbClr val="FAF1DE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731520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C9971F"/>
                </a:solidFill>
                <a:latin typeface="Poppins"/>
              </a:rPr>
              <a:t>~6x </a:t>
            </a:r>
            <a:r>
              <a:rPr sz="1900" b="1">
                <a:solidFill>
                  <a:srgbClr val="1E2333"/>
                </a:solidFill>
                <a:latin typeface="Poppins"/>
              </a:rPr>
              <a:t>lebih terjangkau dibanding MyFitnessPal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645920"/>
            <a:ext cx="286207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9202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B7280"/>
                </a:solidFill>
                <a:latin typeface="Inter"/>
              </a:rPr>
              <a:t>HARGA BUKAN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B7280"/>
                </a:solidFill>
                <a:latin typeface="Inter"/>
              </a:rPr>
              <a:t>KOMPETISI UTAMA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514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333"/>
                </a:solidFill>
                <a:latin typeface="Inter"/>
              </a:rPr>
              <a:t>FitKu bersaing melalui: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92607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Inter"/>
              </a:rPr>
              <a:t>Localization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4290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33832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Inter"/>
              </a:rPr>
              <a:t>Personalization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931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38862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Inter"/>
              </a:rPr>
              <a:t>AI Coaching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FIELD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Market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400800" cy="192024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Poppins"/>
              </a:rPr>
              <a:t>US$450,000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0F3EE"/>
                </a:solidFill>
                <a:latin typeface="Inter"/>
              </a:rPr>
              <a:t>Belanja konsumen Indonesia untuk weight-loss &amp; calorie-tracker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0F3EE"/>
                </a:solidFill>
                <a:latin typeface="Inter"/>
              </a:rPr>
              <a:t>apps — Q4 2023 saja. Kategori ini persis sama dengan FitKu.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9E3DA"/>
                </a:solidFill>
                <a:latin typeface="Inter"/>
              </a:rPr>
              <a:t>Sumber: Statista / Sensor Tower, Q4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E2333"/>
                </a:solidFill>
                <a:latin typeface="Inter"/>
              </a:rPr>
              <a:t>Kategori ini sudah punya willingness-to-pay yang terbukti.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E2333"/>
                </a:solidFill>
                <a:latin typeface="Inter"/>
              </a:rPr>
              <a:t>Bukan asumsi bahwa orang Indonesia tidak mau membayar.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645920"/>
            <a:ext cx="4187952" cy="1417320"/>
          </a:xfrm>
          <a:prstGeom prst="roundRect">
            <a:avLst>
              <a:gd name="adj" fmla="val 12000"/>
            </a:avLst>
          </a:prstGeom>
          <a:solidFill>
            <a:srgbClr val="E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810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Inter"/>
              </a:rPr>
              <a:t>HIGH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333"/>
                </a:solidFill>
                <a:latin typeface="Inter"/>
              </a:rPr>
              <a:t>Kategori sudah menghasilkan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333"/>
                </a:solidFill>
                <a:latin typeface="Inter"/>
              </a:rPr>
              <a:t>revenue nyata di Indonesia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218688"/>
            <a:ext cx="4187952" cy="141732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383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971F"/>
                </a:solidFill>
                <a:latin typeface="Inter"/>
              </a:rP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72160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333"/>
                </a:solidFill>
                <a:latin typeface="Inter"/>
              </a:rPr>
              <a:t>Subscription willingness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333"/>
                </a:solidFill>
                <a:latin typeface="Inter"/>
              </a:rPr>
              <a:t>Indonesia (kategori berdekatan)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791456"/>
            <a:ext cx="4187952" cy="1417320"/>
          </a:xfrm>
          <a:prstGeom prst="roundRect">
            <a:avLst>
              <a:gd name="adj" fmla="val 12000"/>
            </a:avLst>
          </a:prstGeom>
          <a:solidFill>
            <a:srgbClr val="E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956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Inter"/>
              </a:rPr>
              <a:t>LOW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294376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333"/>
                </a:solidFill>
                <a:latin typeface="Inter"/>
              </a:rPr>
              <a:t>Data subscriber MyFitnessPal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333"/>
                </a:solidFill>
                <a:latin typeface="Inter"/>
              </a:rPr>
              <a:t>Indonesia tidak tersedia publik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CONSUMER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Indonesian Subscription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E2333"/>
                </a:solidFill>
                <a:latin typeface="Inter"/>
              </a:rPr>
              <a:t>Orang Indonesia sudah terbiasa membayar subscription digital: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548640" cy="5486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333"/>
                </a:solidFill>
                <a:latin typeface="Poppins"/>
              </a:rPr>
              <a:t>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53% bayar Rp100rb–250rb/bulan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1488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2377440"/>
            <a:ext cx="548640" cy="5486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1089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333"/>
                </a:solidFill>
                <a:latin typeface="Poppins"/>
              </a:rPr>
              <a:t>Dating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520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55% bayar &lt;Rp100rb/bulan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4884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1" y="2377440"/>
            <a:ext cx="548640" cy="5486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31089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333"/>
                </a:solidFill>
                <a:latin typeface="Poppins"/>
              </a:rPr>
              <a:t>Productivity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3520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Adopsi luas, model freemium umum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0881360" cy="12801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10149840" cy="12801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FFFFFF"/>
                </a:solidFill>
                <a:latin typeface="Poppins"/>
              </a:rPr>
              <a:t>Rp49.000–Rp119.000 </a:t>
            </a:r>
            <a:r>
              <a:rPr sz="1900" b="0">
                <a:solidFill>
                  <a:srgbClr val="E0F3EE"/>
                </a:solidFill>
                <a:latin typeface="Poppins"/>
              </a:rPr>
              <a:t>berada dalam range psikologis pembayaran digital Indonesia yang sudah terbukti.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PREMIUM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FitKu Premium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11095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37944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333"/>
                </a:solidFill>
                <a:latin typeface="Poppins"/>
              </a:rPr>
              <a:t>AI Diet Coaching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1992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Inter"/>
              </a:rPr>
              <a:t>Chat lanjutan dengan AI Coach — analisa, insight, dan aksi harian yang menyesuaikan progresmu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98648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98648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118104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333"/>
                </a:solidFill>
                <a:latin typeface="Poppins"/>
              </a:rPr>
              <a:t>Daily Movement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429000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Inter"/>
              </a:rPr>
              <a:t>Rekomendasi gerak personal berdasarkan target tubuh &amp; level aktivitas — terhubung ke AI Coach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05656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05656"/>
            <a:ext cx="54864" cy="1051560"/>
          </a:xfrm>
          <a:prstGeom prst="rect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32511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/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2519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333"/>
                </a:solidFill>
                <a:latin typeface="Poppins"/>
              </a:rPr>
              <a:t>Personalized Progress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636008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Inter"/>
              </a:rPr>
              <a:t>Analisa tren mendalam dari data harianmu — bukan sekadar grafik, tapi insight yang bisa ditindaklanjuti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C9971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40680"/>
            <a:ext cx="8686800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🏃 Bonus Premium — Daily Movement Plan   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4DD"/>
                </a:solidFill>
                <a:latin typeface="Poppins"/>
              </a:rPr>
              <a:t>Senilai Rp199.000</a:t>
            </a:r>
            <a:r>
              <a:rPr sz="1500" b="0">
                <a:solidFill>
                  <a:srgbClr val="FFFFFF"/>
                </a:solidFill>
                <a:latin typeface="Poppins"/>
              </a:rPr>
              <a:t>+  ·  nilai dari personalisasi berkelanjutan, bukan jumlah fitur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Pricing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65960"/>
            <a:ext cx="34290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228600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Inter"/>
              </a:rPr>
              <a:t>MONTHLY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74320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7280"/>
                </a:solidFill>
                <a:latin typeface="Inter"/>
              </a:rPr>
              <a:t>Rp99.000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2" y="2880360"/>
            <a:ext cx="850392" cy="1645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108960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333"/>
                </a:solidFill>
                <a:latin typeface="Poppins"/>
              </a:rPr>
              <a:t>Rp49.000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79476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/bulan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" y="4251960"/>
            <a:ext cx="996695" cy="310896"/>
          </a:xfrm>
          <a:prstGeom prst="roundRect">
            <a:avLst>
              <a:gd name="adj" fmla="val 50000"/>
            </a:avLst>
          </a:prstGeom>
          <a:solidFill>
            <a:srgbClr val="E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100" b="1">
                <a:solidFill>
                  <a:srgbClr val="0D9488"/>
                </a:solidFill>
                <a:latin typeface="Inter"/>
              </a:rPr>
              <a:t>Hemat 51%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1783080"/>
            <a:ext cx="3429000" cy="3977639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93207" y="158191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⭐ MOST POPULAR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7" y="210312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D8FB"/>
                </a:solidFill>
                <a:latin typeface="Inter"/>
              </a:rPr>
              <a:t>3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7" y="256032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8FB"/>
                </a:solidFill>
                <a:latin typeface="Inter"/>
              </a:rPr>
              <a:t>Rp297.000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7" y="2697480"/>
            <a:ext cx="950976" cy="16459"/>
          </a:xfrm>
          <a:prstGeom prst="rect">
            <a:avLst/>
          </a:prstGeom>
          <a:solidFill>
            <a:srgbClr val="E3D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7" y="2926080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Rp119.000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7" y="36118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3D8FB"/>
                </a:solidFill>
                <a:latin typeface="Inter"/>
              </a:rPr>
              <a:t>/3 bulan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0327" y="4069080"/>
            <a:ext cx="996695" cy="310896"/>
          </a:xfrm>
          <a:prstGeom prst="roundRect">
            <a:avLst>
              <a:gd name="adj" fmla="val 50000"/>
            </a:avLst>
          </a:prstGeom>
          <a:solidFill>
            <a:srgbClr val="3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100" b="1">
                <a:solidFill>
                  <a:srgbClr val="D6C5FF"/>
                </a:solidFill>
                <a:latin typeface="Inter"/>
              </a:rPr>
              <a:t>Hemat 60%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1965960"/>
            <a:ext cx="34290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3" y="228600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Inter"/>
              </a:rPr>
              <a:t>YEARLY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3" y="274320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7280"/>
                </a:solidFill>
                <a:latin typeface="Inter"/>
              </a:rPr>
              <a:t>Rp1.188.000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4503" y="2880360"/>
            <a:ext cx="1152144" cy="1645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03" y="3108960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333"/>
                </a:solidFill>
                <a:latin typeface="Poppins"/>
              </a:rPr>
              <a:t>Rp399.000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3" y="379476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/tahun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04503" y="4251960"/>
            <a:ext cx="996695" cy="310896"/>
          </a:xfrm>
          <a:prstGeom prst="roundRect">
            <a:avLst>
              <a:gd name="adj" fmla="val 50000"/>
            </a:avLst>
          </a:prstGeom>
          <a:solidFill>
            <a:srgbClr val="E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100" b="1">
                <a:solidFill>
                  <a:srgbClr val="0D9488"/>
                </a:solidFill>
                <a:latin typeface="Inter"/>
              </a:rPr>
              <a:t>Hemat 66%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Inter"/>
              </a:rPr>
              <a:t>Launch pricing untuk early adopter — bisa direvisi setelah data retensi nyata masuk.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FINANCIAL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Revenue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Inter"/>
              </a:rPr>
              <a:t>Ilustrasi berbasis paket bulanan (Rp49.000) · fee payment gateway 4% sudah dihitung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17320"/>
                <a:gridCol w="1325880"/>
                <a:gridCol w="128016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Skenario</a:t>
                      </a:r>
                    </a:p>
                  </a:txBody>
                  <a:tcPr anchor="ctr"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Revenue Kotor</a:t>
                      </a:r>
                    </a:p>
                  </a:txBody>
                  <a:tcPr anchor="ctr"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Fee Gateway 4%</a:t>
                      </a:r>
                    </a:p>
                  </a:txBody>
                  <a:tcPr anchor="ctr"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Net Revenue</a:t>
                      </a:r>
                    </a:p>
                  </a:txBody>
                  <a:tcPr anchor="ctr">
                    <a:solidFill>
                      <a:srgbClr val="1E23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10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Rp490.000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Rp19.600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9488"/>
                          </a:solidFill>
                          <a:latin typeface="Inter"/>
                        </a:rPr>
                        <a:t>Rp470.400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100 Users</a:t>
                      </a:r>
                    </a:p>
                  </a:txBody>
                  <a:tcPr anchor="ctr">
                    <a:solidFill>
                      <a:srgbClr val="E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Rp4.900.000</a:t>
                      </a:r>
                    </a:p>
                  </a:txBody>
                  <a:tcPr anchor="ctr">
                    <a:solidFill>
                      <a:srgbClr val="E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Rp196.000</a:t>
                      </a:r>
                    </a:p>
                  </a:txBody>
                  <a:tcPr anchor="ctr">
                    <a:solidFill>
                      <a:srgbClr val="E1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9488"/>
                          </a:solidFill>
                          <a:latin typeface="Inter"/>
                        </a:rPr>
                        <a:t>Rp4.704.000</a:t>
                      </a:r>
                    </a:p>
                  </a:txBody>
                  <a:tcPr anchor="ctr">
                    <a:solidFill>
                      <a:srgbClr val="E1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1.000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Rp49.000.000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333"/>
                          </a:solidFill>
                          <a:latin typeface="Inter"/>
                        </a:rPr>
                        <a:t>Rp1.960.000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9488"/>
                          </a:solidFill>
                          <a:latin typeface="Inter"/>
                        </a:rPr>
                        <a:t>Rp47.040.000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783080"/>
          <a:ext cx="5029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60350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Inter"/>
              </a:rPr>
              <a:t>Net Revenue per Skala Subscriber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Infrastructure Cost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280"/>
                </a:solidFill>
                <a:latin typeface="Inter"/>
              </a:rPr>
              <a:t>Asumsi biaya masa depan — setelah backend/VPS masuk (saat ini FitKu masih local-first, biaya ini belum berjalan)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Poppins"/>
              </a:rPr>
              <a:t>VPS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8288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Poppins"/>
              </a:rPr>
              <a:t>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8288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Poppins"/>
              </a:rPr>
              <a:t>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78624" y="18288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8624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Poppins"/>
              </a:rPr>
              <a:t>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1472" y="18288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1472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333"/>
                </a:solidFill>
                <a:latin typeface="Poppins"/>
              </a:rPr>
              <a:t>Backend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5120640" cy="1554480"/>
          </a:xfrm>
          <a:prstGeom prst="roundRect">
            <a:avLst>
              <a:gd name="adj" fmla="val 6000"/>
            </a:avLst>
          </a:prstGeom>
          <a:solidFill>
            <a:srgbClr val="1E2333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±Rp1.000.000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8B0C0"/>
                </a:solidFill>
                <a:latin typeface="Inter"/>
              </a:rPr>
              <a:t>estimasi biaya fixed / bulan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200400"/>
            <a:ext cx="5577840" cy="155448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40156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~27 subscriber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FF1EA"/>
                </a:solidFill>
                <a:latin typeface="Inter"/>
              </a:rPr>
              <a:t>titik break-even Premium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E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D9488"/>
                </a:solidFill>
                <a:latin typeface="Poppins"/>
              </a:rPr>
              <a:t>Kesimpulan: </a:t>
            </a:r>
            <a:r>
              <a:rPr sz="1500" b="0">
                <a:solidFill>
                  <a:srgbClr val="1E2333"/>
                </a:solidFill>
                <a:latin typeface="Poppins"/>
              </a:rPr>
              <a:t>harga sekarang sustainable — bar break-even rendah, margin sehat setelahnya.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STRATEGIC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Why Not Increase Price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E2333"/>
                </a:solidFill>
                <a:latin typeface="Inter"/>
              </a:rPr>
              <a:t>Walaupun Rp69.000 punya margin lebih sehat, FitKu saat ini masih: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29000" cy="914400"/>
          </a:xfrm>
          <a:prstGeom prst="roundRect">
            <a:avLst>
              <a:gd name="adj" fmla="val 15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29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971F"/>
                </a:solidFill>
                <a:latin typeface="Poppins"/>
              </a:rPr>
              <a:t>Beta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2103120"/>
            <a:ext cx="3429000" cy="914400"/>
          </a:xfrm>
          <a:prstGeom prst="roundRect">
            <a:avLst>
              <a:gd name="adj" fmla="val 15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2103120"/>
            <a:ext cx="3429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971F"/>
                </a:solidFill>
                <a:latin typeface="Poppins"/>
              </a:rPr>
              <a:t>Butuh user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2103120"/>
            <a:ext cx="3429000" cy="914400"/>
          </a:xfrm>
          <a:prstGeom prst="roundRect">
            <a:avLst>
              <a:gd name="adj" fmla="val 15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2103120"/>
            <a:ext cx="3429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971F"/>
                </a:solidFill>
                <a:latin typeface="Poppins"/>
              </a:rPr>
              <a:t>Butuh retention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FF1EA"/>
                </a:solidFill>
                <a:latin typeface="Inter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Poppins"/>
              </a:rPr>
              <a:t>Rp49.000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0F3EE"/>
                </a:solidFill>
                <a:latin typeface="Inter"/>
              </a:rPr>
              <a:t>Launch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0F3EE"/>
                </a:solidFill>
                <a:latin typeface="Inter"/>
              </a:rPr>
              <a:t>Maksimalkan konversi awal &amp; kumpulkan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0F3EE"/>
                </a:solidFill>
                <a:latin typeface="Inter"/>
              </a:rPr>
              <a:t>data retensi nyata dari user pertama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4343400"/>
            <a:ext cx="640080" cy="640080"/>
          </a:xfrm>
          <a:prstGeom prst="chevron">
            <a:avLst/>
          </a:prstGeom>
          <a:solidFill>
            <a:srgbClr val="C99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352044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E4D8"/>
            </a:solidFill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71F"/>
                </a:solidFill>
                <a:latin typeface="Inter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1148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333"/>
                </a:solidFill>
                <a:latin typeface="Poppins"/>
              </a:rPr>
              <a:t>Rp69.000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800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Inter"/>
              </a:rPr>
              <a:t>Setelah product-market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21208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Inter"/>
              </a:rPr>
              <a:t>Diuji ke cohort baru setelah ada bukti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Inter"/>
              </a:rPr>
              <a:t>retensi — early adopter tetap harga 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Inter"/>
              </a:rPr>
              <a:t>CONVERSION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2333"/>
                </a:solidFill>
                <a:latin typeface="Poppins"/>
              </a:rPr>
              <a:t>Premium Trigger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45720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Inter"/>
              </a:rPr>
              <a:t>Kapan user melihat penawaran Premium — semua non-blocking, tidak ada hard paywall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290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1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D9488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9718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333"/>
                </a:solidFill>
                <a:latin typeface="Poppins"/>
              </a:rPr>
              <a:t>Result Moment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70332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Soft strip setelah user lihat target kalorinya pertama kali — momen "wow" 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2024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920240"/>
            <a:ext cx="342900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54296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7C3AED"/>
                </a:solidFill>
                <a:latin typeface="Poppi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333"/>
                </a:solidFill>
                <a:latin typeface="Poppins"/>
              </a:rPr>
              <a:t>Hari ke-3 Penggunaan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70332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Streak 3 hari berturut-turut — titik konversi terkuat, user sudah rasakan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92024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920240"/>
            <a:ext cx="3429000" cy="54864"/>
          </a:xfrm>
          <a:prstGeom prst="rect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48471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9971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9718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333"/>
                </a:solidFill>
                <a:latin typeface="Poppins"/>
              </a:rPr>
              <a:t>Butuh Coaching Tambahan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370332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Inter"/>
              </a:rPr>
              <a:t>AI Coach mendeteksi pola (mis. kurang aktif) — upsell tepat di momen kebutuhan nyata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1E2333"/>
          </a:solidFill>
          <a:ln>
            <a:noFill/>
          </a:ln>
          <a:effectLst/>
          <a:effectLst>
            <a:outerShdw blurRad="90000" dist="30000" dir="5400000" rotWithShape="0">
              <a:srgbClr val="1E23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49240"/>
            <a:ext cx="1024128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9971F"/>
                </a:solidFill>
                <a:latin typeface="Inter"/>
              </a:rPr>
              <a:t>⚠ </a:t>
            </a:r>
            <a:r>
              <a:rPr sz="1350" b="0">
                <a:solidFill>
                  <a:srgbClr val="FFFFFF"/>
                </a:solidFill>
                <a:latin typeface="Inter"/>
              </a:rPr>
              <a:t>Jangan gunakan hard paywall terlalu cepat — semua trigger di atas bersifat value-moment, bukan limit pemakaian.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FitKu · Premium Pricing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-1828800"/>
            <a:ext cx="5486400" cy="5486400"/>
          </a:xfrm>
          <a:prstGeom prst="roundRect">
            <a:avLst>
              <a:gd name="adj" fmla="val 100000"/>
            </a:avLst>
          </a:prstGeom>
          <a:solidFill>
            <a:srgbClr val="0D948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EEAD4"/>
                </a:solidFill>
                <a:latin typeface="Inter"/>
              </a:rPr>
              <a:t>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Poppins"/>
              </a:rPr>
              <a:t>Approved Pricing &amp; Positioning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29000" cy="1371600"/>
          </a:xfrm>
          <a:prstGeom prst="roundRect">
            <a:avLst>
              <a:gd name="adj" fmla="val 15000"/>
            </a:avLst>
          </a:prstGeom>
          <a:solidFill>
            <a:srgbClr val="26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Poppins"/>
              </a:rPr>
              <a:t>Rp49.000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A8B0C0"/>
                </a:solidFill>
                <a:latin typeface="Inter"/>
              </a:rPr>
              <a:t>/month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45920"/>
            <a:ext cx="3429000" cy="1371600"/>
          </a:xfrm>
          <a:prstGeom prst="roundRect">
            <a:avLst>
              <a:gd name="adj" fmla="val 15000"/>
            </a:avLst>
          </a:prstGeom>
          <a:solidFill>
            <a:srgbClr val="26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8288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Poppins"/>
              </a:rPr>
              <a:t>Rp119.000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24231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A8B0C0"/>
                </a:solidFill>
                <a:latin typeface="Inter"/>
              </a:rPr>
              <a:t>/3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645920"/>
            <a:ext cx="3429000" cy="1371600"/>
          </a:xfrm>
          <a:prstGeom prst="roundRect">
            <a:avLst>
              <a:gd name="adj" fmla="val 15000"/>
            </a:avLst>
          </a:prstGeom>
          <a:solidFill>
            <a:srgbClr val="26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8288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Poppins"/>
              </a:rPr>
              <a:t>Rp399.000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4231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A8B0C0"/>
                </a:solidFill>
                <a:latin typeface="Inter"/>
              </a:rPr>
              <a:t>/year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10241280" cy="9601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Poppins"/>
              </a:rPr>
              <a:t>🏃 Premium Bonus — Daily Movement Plan   </a:t>
            </a:r>
            <a:r>
              <a:rPr sz="1700" b="1">
                <a:solidFill>
                  <a:srgbClr val="FFF4DD"/>
                </a:solidFill>
                <a:latin typeface="Poppins"/>
              </a:rPr>
              <a:t>senilai Rp199.000+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EEAD4"/>
                </a:solidFill>
                <a:latin typeface="Inter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1">
                <a:solidFill>
                  <a:srgbClr val="FFFFFF"/>
                </a:solidFill>
                <a:latin typeface="Poppins"/>
              </a:rPr>
              <a:t>"AI Diet Coach Indonesia yang membantu kamu makan lebih tepat,</a:t>
            </a:r>
          </a:p>
          <a:p>
            <a:pPr algn="l">
              <a:lnSpc>
                <a:spcPct val="130000"/>
              </a:lnSpc>
            </a:pPr>
            <a:r>
              <a:rPr sz="2200" b="1" i="1">
                <a:solidFill>
                  <a:srgbClr val="FFFFFF"/>
                </a:solidFill>
                <a:latin typeface="Poppins"/>
              </a:rPr>
              <a:t>bergerak lebih konsisten, dan mencapai target tubuhmu."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8B0C0"/>
                </a:solidFill>
                <a:latin typeface="Inter"/>
              </a:rPr>
              <a:t>Prepared for founder, developer &amp; investor reference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